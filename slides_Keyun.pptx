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7"/>
  </p:notesMasterIdLst>
  <p:handoutMasterIdLst>
    <p:handoutMasterId r:id="rId8"/>
  </p:handoutMasterIdLst>
  <p:sldIdLst>
    <p:sldId id="329" r:id="rId5"/>
    <p:sldId id="33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85316" autoAdjust="0"/>
  </p:normalViewPr>
  <p:slideViewPr>
    <p:cSldViewPr snapToGrid="0">
      <p:cViewPr varScale="1">
        <p:scale>
          <a:sx n="160" d="100"/>
          <a:sy n="160" d="100"/>
        </p:scale>
        <p:origin x="30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fif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5209-551F-6EC1-A54B-79D9B460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3" y="1954305"/>
            <a:ext cx="3328895" cy="965346"/>
          </a:xfrm>
        </p:spPr>
        <p:txBody>
          <a:bodyPr/>
          <a:lstStyle/>
          <a:p>
            <a:r>
              <a:rPr lang="en-CA" sz="3600" dirty="0"/>
              <a:t>introduction</a:t>
            </a:r>
            <a:endParaRPr lang="en-US" sz="3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2B905E-EA68-5F8C-668B-1F8C80EAD2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757420" y="536963"/>
            <a:ext cx="4792979" cy="301349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1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6CFB7D-69A4-B016-AF88-4C75AE61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407" y="2412482"/>
            <a:ext cx="923609" cy="923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0B8FCE-69A9-9B12-FD70-FC7B08965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407" y="1642688"/>
            <a:ext cx="986085" cy="590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4FD578-B4D1-98B2-304B-D6998F13B2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138" y="692954"/>
            <a:ext cx="770822" cy="7708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7EC302-AA52-F9C9-5B61-5A889EBFC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637" y="1056235"/>
            <a:ext cx="838302" cy="8383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E26EF4-7F95-0BF9-8877-A4F340D345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1002" y="1884196"/>
            <a:ext cx="838302" cy="838302"/>
          </a:xfrm>
          <a:prstGeom prst="rect">
            <a:avLst/>
          </a:prstGeom>
        </p:spPr>
      </p:pic>
      <p:pic>
        <p:nvPicPr>
          <p:cNvPr id="21" name="Picture 20" descr="Couple of arrows changing places - Free arrows icons">
            <a:extLst>
              <a:ext uri="{FF2B5EF4-FFF2-40B4-BE49-F238E27FC236}">
                <a16:creationId xmlns:a16="http://schemas.microsoft.com/office/drawing/2014/main" id="{E9343EB1-44D6-A979-07C6-67B28710B79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09512" y="1642688"/>
            <a:ext cx="838301" cy="6457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CFACF1-4D14-FA49-E205-0638725D7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420314" y="1311267"/>
            <a:ext cx="1057584" cy="105758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5518957-7298-9EBC-1872-95F75D0649F8}"/>
              </a:ext>
            </a:extLst>
          </p:cNvPr>
          <p:cNvSpPr>
            <a:spLocks/>
          </p:cNvSpPr>
          <p:nvPr/>
        </p:nvSpPr>
        <p:spPr>
          <a:xfrm>
            <a:off x="6364941" y="612201"/>
            <a:ext cx="66488" cy="2785035"/>
          </a:xfrm>
          <a:custGeom>
            <a:avLst/>
            <a:gdLst>
              <a:gd name="csX0" fmla="*/ 0 w 66488"/>
              <a:gd name="csY0" fmla="*/ 0 h 2785035"/>
              <a:gd name="csX1" fmla="*/ 66488 w 66488"/>
              <a:gd name="csY1" fmla="*/ 0 h 2785035"/>
              <a:gd name="csX2" fmla="*/ 66488 w 66488"/>
              <a:gd name="csY2" fmla="*/ 557007 h 2785035"/>
              <a:gd name="csX3" fmla="*/ 66488 w 66488"/>
              <a:gd name="csY3" fmla="*/ 1030463 h 2785035"/>
              <a:gd name="csX4" fmla="*/ 66488 w 66488"/>
              <a:gd name="csY4" fmla="*/ 1559620 h 2785035"/>
              <a:gd name="csX5" fmla="*/ 66488 w 66488"/>
              <a:gd name="csY5" fmla="*/ 2116627 h 2785035"/>
              <a:gd name="csX6" fmla="*/ 66488 w 66488"/>
              <a:gd name="csY6" fmla="*/ 2785035 h 2785035"/>
              <a:gd name="csX7" fmla="*/ 0 w 66488"/>
              <a:gd name="csY7" fmla="*/ 2785035 h 2785035"/>
              <a:gd name="csX8" fmla="*/ 0 w 66488"/>
              <a:gd name="csY8" fmla="*/ 2255878 h 2785035"/>
              <a:gd name="csX9" fmla="*/ 0 w 66488"/>
              <a:gd name="csY9" fmla="*/ 1643171 h 2785035"/>
              <a:gd name="csX10" fmla="*/ 0 w 66488"/>
              <a:gd name="csY10" fmla="*/ 1114014 h 2785035"/>
              <a:gd name="csX11" fmla="*/ 0 w 66488"/>
              <a:gd name="csY11" fmla="*/ 557007 h 2785035"/>
              <a:gd name="csX12" fmla="*/ 0 w 66488"/>
              <a:gd name="csY12" fmla="*/ 0 h 2785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6488" h="2785035" fill="none" extrusionOk="0">
                <a:moveTo>
                  <a:pt x="0" y="0"/>
                </a:moveTo>
                <a:cubicBezTo>
                  <a:pt x="19871" y="-4666"/>
                  <a:pt x="43057" y="3050"/>
                  <a:pt x="66488" y="0"/>
                </a:cubicBezTo>
                <a:cubicBezTo>
                  <a:pt x="68093" y="201654"/>
                  <a:pt x="25288" y="368810"/>
                  <a:pt x="66488" y="557007"/>
                </a:cubicBezTo>
                <a:cubicBezTo>
                  <a:pt x="107688" y="745204"/>
                  <a:pt x="59642" y="795968"/>
                  <a:pt x="66488" y="1030463"/>
                </a:cubicBezTo>
                <a:cubicBezTo>
                  <a:pt x="73334" y="1264958"/>
                  <a:pt x="36582" y="1390313"/>
                  <a:pt x="66488" y="1559620"/>
                </a:cubicBezTo>
                <a:cubicBezTo>
                  <a:pt x="96394" y="1728927"/>
                  <a:pt x="66207" y="1857124"/>
                  <a:pt x="66488" y="2116627"/>
                </a:cubicBezTo>
                <a:cubicBezTo>
                  <a:pt x="66769" y="2376130"/>
                  <a:pt x="28779" y="2613953"/>
                  <a:pt x="66488" y="2785035"/>
                </a:cubicBezTo>
                <a:cubicBezTo>
                  <a:pt x="39407" y="2792257"/>
                  <a:pt x="20307" y="2783620"/>
                  <a:pt x="0" y="2785035"/>
                </a:cubicBezTo>
                <a:cubicBezTo>
                  <a:pt x="-38542" y="2664377"/>
                  <a:pt x="24898" y="2454194"/>
                  <a:pt x="0" y="2255878"/>
                </a:cubicBezTo>
                <a:cubicBezTo>
                  <a:pt x="-24898" y="2057562"/>
                  <a:pt x="49745" y="1913116"/>
                  <a:pt x="0" y="1643171"/>
                </a:cubicBezTo>
                <a:cubicBezTo>
                  <a:pt x="-49745" y="1373226"/>
                  <a:pt x="37994" y="1307386"/>
                  <a:pt x="0" y="1114014"/>
                </a:cubicBezTo>
                <a:cubicBezTo>
                  <a:pt x="-37994" y="920642"/>
                  <a:pt x="16039" y="810947"/>
                  <a:pt x="0" y="557007"/>
                </a:cubicBezTo>
                <a:cubicBezTo>
                  <a:pt x="-16039" y="303067"/>
                  <a:pt x="51375" y="155132"/>
                  <a:pt x="0" y="0"/>
                </a:cubicBezTo>
                <a:close/>
              </a:path>
              <a:path w="66488" h="2785035" stroke="0" extrusionOk="0">
                <a:moveTo>
                  <a:pt x="0" y="0"/>
                </a:moveTo>
                <a:cubicBezTo>
                  <a:pt x="22086" y="-4394"/>
                  <a:pt x="52351" y="4431"/>
                  <a:pt x="66488" y="0"/>
                </a:cubicBezTo>
                <a:cubicBezTo>
                  <a:pt x="88042" y="242695"/>
                  <a:pt x="36987" y="429616"/>
                  <a:pt x="66488" y="584857"/>
                </a:cubicBezTo>
                <a:cubicBezTo>
                  <a:pt x="95989" y="740098"/>
                  <a:pt x="9892" y="976516"/>
                  <a:pt x="66488" y="1086164"/>
                </a:cubicBezTo>
                <a:cubicBezTo>
                  <a:pt x="123084" y="1195812"/>
                  <a:pt x="20757" y="1459774"/>
                  <a:pt x="66488" y="1643171"/>
                </a:cubicBezTo>
                <a:cubicBezTo>
                  <a:pt x="112219" y="1826568"/>
                  <a:pt x="66407" y="2097656"/>
                  <a:pt x="66488" y="2255878"/>
                </a:cubicBezTo>
                <a:cubicBezTo>
                  <a:pt x="66569" y="2414100"/>
                  <a:pt x="15819" y="2627326"/>
                  <a:pt x="66488" y="2785035"/>
                </a:cubicBezTo>
                <a:cubicBezTo>
                  <a:pt x="40594" y="2792388"/>
                  <a:pt x="32119" y="2777752"/>
                  <a:pt x="0" y="2785035"/>
                </a:cubicBezTo>
                <a:cubicBezTo>
                  <a:pt x="-2777" y="2561422"/>
                  <a:pt x="36979" y="2438965"/>
                  <a:pt x="0" y="2311579"/>
                </a:cubicBezTo>
                <a:cubicBezTo>
                  <a:pt x="-36979" y="2184193"/>
                  <a:pt x="7739" y="2013663"/>
                  <a:pt x="0" y="1810273"/>
                </a:cubicBezTo>
                <a:cubicBezTo>
                  <a:pt x="-7739" y="1606883"/>
                  <a:pt x="4023" y="1528989"/>
                  <a:pt x="0" y="1336817"/>
                </a:cubicBezTo>
                <a:cubicBezTo>
                  <a:pt x="-4023" y="1144645"/>
                  <a:pt x="36049" y="935800"/>
                  <a:pt x="0" y="751959"/>
                </a:cubicBezTo>
                <a:cubicBezTo>
                  <a:pt x="-36049" y="568118"/>
                  <a:pt x="46571" y="278558"/>
                  <a:pt x="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accent2">
                <a:lumMod val="1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830704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DC75E-6FBD-D2A1-4364-D626791AD511}"/>
              </a:ext>
            </a:extLst>
          </p:cNvPr>
          <p:cNvSpPr txBox="1"/>
          <p:nvPr/>
        </p:nvSpPr>
        <p:spPr>
          <a:xfrm>
            <a:off x="8612877" y="2250899"/>
            <a:ext cx="828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altLang="zh-CN" sz="2000" cap="all" spc="-150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rPr>
              <a:t>RUST</a:t>
            </a:r>
            <a:endParaRPr lang="zh-CN" altLang="en-US" sz="36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7D362792-3448-2746-EABE-F38942AD71AD}"/>
              </a:ext>
            </a:extLst>
          </p:cNvPr>
          <p:cNvSpPr/>
          <p:nvPr/>
        </p:nvSpPr>
        <p:spPr>
          <a:xfrm>
            <a:off x="5636088" y="4113864"/>
            <a:ext cx="4535825" cy="764451"/>
          </a:xfrm>
          <a:prstGeom prst="wedgeRoundRectCallout">
            <a:avLst>
              <a:gd name="adj1" fmla="val -47844"/>
              <a:gd name="adj2" fmla="val 7266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“</a:t>
            </a:r>
            <a:r>
              <a:rPr lang="zh-CN" altLang="zh-CN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My goal is to eliminate every line of C and C++ from Microsoft by 2030.</a:t>
            </a:r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”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DD7BD4-3F3E-09B5-F9F7-02C6B1384B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895" y="3938350"/>
            <a:ext cx="1078724" cy="10787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ACD2F3-B6AA-AC5F-9A16-62010B375DBF}"/>
              </a:ext>
            </a:extLst>
          </p:cNvPr>
          <p:cNvSpPr txBox="1"/>
          <p:nvPr/>
        </p:nvSpPr>
        <p:spPr>
          <a:xfrm>
            <a:off x="3580298" y="5193972"/>
            <a:ext cx="2137030" cy="42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zh-CN" altLang="zh-CN" sz="1400" dirty="0">
                <a:solidFill>
                  <a:schemeClr val="bg1"/>
                </a:solidFill>
              </a:rPr>
              <a:t>Distinguished Engineer at Microsoft</a:t>
            </a:r>
            <a:endParaRPr lang="zh-CN" altLang="en-US" sz="28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4F4B-7E15-DA94-0B72-B30AB9BC4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5216" y="721517"/>
            <a:ext cx="5161563" cy="425965"/>
          </a:xfrm>
        </p:spPr>
        <p:txBody>
          <a:bodyPr/>
          <a:lstStyle/>
          <a:p>
            <a:pPr algn="ctr"/>
            <a:r>
              <a:rPr lang="zh-CN" altLang="zh-CN" sz="2800" dirty="0"/>
              <a:t>Contents</a:t>
            </a:r>
            <a:endParaRPr lang="en-US" altLang="zh-C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2964523" y="2044372"/>
            <a:ext cx="6262950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Key Developments &amp; How It Works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Impact on Software Development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Challenges, Risks &amp; Future Outlook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296157-C082-4829-A89B-8A5ED50B65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9CA4D2-B95E-49C0-A306-875863A41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118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PMincho</vt:lpstr>
      <vt:lpstr>Arial</vt:lpstr>
      <vt:lpstr>Calibri</vt:lpstr>
      <vt:lpstr>Courier New</vt:lpstr>
      <vt:lpstr>Mangal</vt:lpstr>
      <vt:lpstr>Custom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H60096@365mmt.com</cp:lastModifiedBy>
  <cp:revision>8</cp:revision>
  <dcterms:created xsi:type="dcterms:W3CDTF">2026-10-19T23:12:33Z</dcterms:created>
  <dcterms:modified xsi:type="dcterms:W3CDTF">2026-10-20T03:46:17Z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