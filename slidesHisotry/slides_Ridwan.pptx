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7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8B41"/>
                </a:solidFill>
                <a:latin typeface="Aptos"/>
              </a:defRPr>
            </a:pPr>
            <a:r>
              <a:t>01  /  KEY DEVELOPMENTS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3F7FC"/>
                </a:solidFill>
                <a:latin typeface="Aptos"/>
              </a:defRPr>
            </a:pPr>
            <a:r>
              <a:t>Why memory safety became a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3D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RUST VS. C/C++  •  PART 2: KEY DEVELOPMENTS &amp;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566160" cy="3520440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78B41"/>
                </a:solidFill>
                <a:latin typeface="Aptos"/>
              </a:defRPr>
            </a:pPr>
            <a:r>
              <a:t>2006–2015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7FC"/>
                </a:solidFill>
                <a:latin typeface="Aptos"/>
              </a:defRPr>
            </a:pPr>
            <a:r>
              <a:t>Rust emerges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BFCF"/>
                </a:solidFill>
                <a:latin typeface="Aptos"/>
              </a:defRPr>
            </a:pPr>
            <a:r>
              <a:t>Mozilla research began in 2006; Rust 1.0 released in 2015.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920240"/>
            <a:ext cx="3566160" cy="3520440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78B41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7FC"/>
                </a:solidFill>
                <a:latin typeface="Aptos"/>
              </a:defRPr>
            </a:pPr>
            <a:r>
              <a:t>Linux kernel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74903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BFCF"/>
                </a:solidFill>
                <a:latin typeface="Aptos"/>
              </a:defRPr>
            </a:pPr>
            <a:r>
              <a:t>Rust support entered the Linux kernel, initially for new components.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920240"/>
            <a:ext cx="3566160" cy="3520440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78B41"/>
                </a:solidFill>
                <a:latin typeface="Aptos"/>
              </a:defRPr>
            </a:pPr>
            <a:r>
              <a:t>2020s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7FC"/>
                </a:solidFill>
                <a:latin typeface="Aptos"/>
              </a:defRPr>
            </a:pPr>
            <a:r>
              <a:t>Industry 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74903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BFCF"/>
                </a:solidFill>
                <a:latin typeface="Aptos"/>
              </a:defRPr>
            </a:pPr>
            <a:r>
              <a:t>Security teams and platform vendors increasingly recommend memory-safe languages.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7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8B41"/>
                </a:solidFill>
                <a:latin typeface="Aptos"/>
              </a:defRPr>
            </a:pPr>
            <a:r>
              <a:t>02  /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3F7FC"/>
                </a:solidFill>
                <a:latin typeface="Aptos"/>
              </a:defRPr>
            </a:pPr>
            <a:r>
              <a:t>Rust’s three core safety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3D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RUST VS. C/C++  •  PART 2: KEY DEVELOPMENTS &amp;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789920" cy="1124712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396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7FC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029967"/>
            <a:ext cx="6720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BFCF"/>
                </a:solidFill>
                <a:latin typeface="Aptos"/>
              </a:defRPr>
            </a:pPr>
            <a:r>
              <a:t>Every value has an owner. When its owner goes out of scope, the value is cleaned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27832"/>
            <a:ext cx="10789920" cy="1124712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930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107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7FC"/>
                </a:solidFill>
                <a:latin typeface="Aptos"/>
              </a:defRPr>
            </a:pPr>
            <a:r>
              <a:t>Borrowing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83279"/>
            <a:ext cx="6720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BFCF"/>
                </a:solidFill>
                <a:latin typeface="Aptos"/>
              </a:defRPr>
            </a:pPr>
            <a:r>
              <a:t>Code can temporarily reference a value without taking ownership.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81144"/>
            <a:ext cx="10789920" cy="1124712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6402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7FC"/>
                </a:solidFill>
                <a:latin typeface="Aptos"/>
              </a:defRPr>
            </a:pPr>
            <a:r>
              <a:t>Borrow checker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736592"/>
            <a:ext cx="6720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BFCF"/>
                </a:solidFill>
                <a:latin typeface="Aptos"/>
              </a:defRPr>
            </a:pPr>
            <a:r>
              <a:t>The compiler checks reference lifetimes and aliasing rules before the program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7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8B41"/>
                </a:solidFill>
                <a:latin typeface="Aptos"/>
              </a:defRPr>
            </a:pPr>
            <a:r>
              <a:t>03  /  MEMORY SAFETY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3F7FC"/>
                </a:solidFill>
                <a:latin typeface="Aptos"/>
              </a:defRPr>
            </a:pPr>
            <a:r>
              <a:t>C/C++ and Rust: a simple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3D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RUST VS. C/C++  •  PART 2: KEY DEVELOPMENTS &amp;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5230368" cy="4005072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1737360"/>
            <a:ext cx="5230368" cy="4005072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38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78B41"/>
                </a:solidFill>
                <a:latin typeface="Aptos"/>
              </a:defRPr>
            </a:pPr>
            <a:r>
              <a:t>C: use-after-free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38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5ED7AC"/>
                </a:solidFill>
                <a:latin typeface="Aptos"/>
              </a:defRPr>
            </a:pPr>
            <a:r>
              <a:t>Rust: rejected at compile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24328"/>
            <a:ext cx="4709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int *p = malloc(sizeof(int));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free(p);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*p = 42;  // invalid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24328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let name = String::from("Hi");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let moved = name;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println!("{name}"); //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651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FBFCF"/>
                </a:solidFill>
                <a:latin typeface="Aptos"/>
              </a:defRPr>
            </a:pPr>
            <a:r>
              <a:t>Memory is freed, but the pointer remains.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9651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FBFCF"/>
                </a:solidFill>
                <a:latin typeface="Aptos"/>
              </a:defRPr>
            </a:pPr>
            <a:r>
              <a:t>Ownership was moved; the old name cannot be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7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8B41"/>
                </a:solidFill>
                <a:latin typeface="Aptos"/>
              </a:defRPr>
            </a:pPr>
            <a:r>
              <a:t>04  /  BORROWING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3F7FC"/>
                </a:solidFill>
                <a:latin typeface="Aptos"/>
              </a:defRPr>
            </a:pPr>
            <a:r>
              <a:t>What the compiler actually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3D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RUST VS. C/C++  •  PART 2: KEY DEVELOPMENTS &amp;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6766560" cy="3977639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let mut data = String::from("Hi");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let read = &amp;data;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// read is an immutable borrow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println!("{read}");</a:t>
            </a:r>
          </a:p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Consolas"/>
              </a:defRPr>
            </a:pPr>
            <a:r>
              <a:t>let write = &amp;mut data; // allowed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The key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587752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AFBFCF"/>
                </a:solidFill>
                <a:latin typeface="Aptos"/>
              </a:defRPr>
            </a:pPr>
            <a:r>
              <a:t>Many shared readers OR one exclusive writer at a time.</a:t>
            </a:r>
          </a:p>
          <a:p>
            <a:pPr>
              <a:spcAft>
                <a:spcPts val="1200"/>
              </a:spcAft>
              <a:defRPr sz="2000" b="0">
                <a:solidFill>
                  <a:srgbClr val="AFBFC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AFBFCF"/>
                </a:solidFill>
                <a:latin typeface="Aptos"/>
              </a:defRPr>
            </a:pPr>
            <a:r>
              <a:t>Rust checks these rules using lifetimes and scopes.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4748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ED7AC"/>
                </a:solidFill>
                <a:latin typeface="Aptos"/>
              </a:defRPr>
            </a:pPr>
            <a:r>
              <a:t>The immutable borrow ends after its last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7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8B41"/>
                </a:solidFill>
                <a:latin typeface="Aptos"/>
              </a:defRPr>
            </a:pPr>
            <a:r>
              <a:t>05  /  INDUSTRY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3F7FC"/>
                </a:solidFill>
                <a:latin typeface="Aptos"/>
              </a:defRPr>
            </a:pPr>
            <a:r>
              <a:t>Why the shift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3D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RUST VS. C/C++  •  PART 2: KEY DEVELOPMENTS &amp;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AFBF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965960"/>
            <a:ext cx="3566160" cy="3246120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2257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Prevent bugs earlier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461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Many use-after-free and data-race errors can be caught during compilation.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965960"/>
            <a:ext cx="3566160" cy="3246120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2257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Keep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2461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Rust is compiled to native code and generally does not require a garbage collector.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1965960"/>
            <a:ext cx="3566160" cy="3246120"/>
          </a:xfrm>
          <a:prstGeom prst="roundRect">
            <a:avLst/>
          </a:prstGeom>
          <a:solidFill>
            <a:srgbClr val="17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32257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78B41"/>
                </a:solidFill>
                <a:latin typeface="Aptos"/>
              </a:defRPr>
            </a:pPr>
            <a:r>
              <a:t>Adopt gradually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32461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Teams can introduce Rust for selected new modules while maintaining existing C/C++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5ED7AC"/>
                </a:solidFill>
                <a:latin typeface="Aptos"/>
              </a:defRPr>
            </a:pPr>
            <a:r>
              <a:t>NEXT: Muhammed Awwal — Impact on Software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