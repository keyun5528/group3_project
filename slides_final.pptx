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29" r:id="rId2"/>
    <p:sldId id="330" r:id="rId3"/>
    <p:sldId id="258" r:id="rId4"/>
    <p:sldId id="259" r:id="rId5"/>
    <p:sldId id="260" r:id="rId6"/>
    <p:sldId id="261" r:id="rId7"/>
    <p:sldId id="262" r:id="rId8"/>
    <p:sldId id="340" r:id="rId9"/>
    <p:sldId id="332" r:id="rId10"/>
    <p:sldId id="341" r:id="rId11"/>
    <p:sldId id="342" r:id="rId12"/>
    <p:sldId id="34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827DA-C85A-4BE9-89D2-EA97D9ED055A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B13152-E136-4182-A0C6-9BC5D5D7CB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9313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79F17-7BA4-49BC-BB37-7F646CF8D2F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891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772" y="1793289"/>
            <a:ext cx="3010925" cy="3373515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423228AD-A556-C433-B2EA-87D97B6FF6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2975" y="3086826"/>
            <a:ext cx="5667049" cy="2079978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2976" y="1793289"/>
            <a:ext cx="5658458" cy="1127125"/>
          </a:xfrm>
        </p:spPr>
        <p:txBody>
          <a:bodyPr lIns="0" tIns="0" rIns="0" b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68274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0925" y="1582977"/>
            <a:ext cx="3978939" cy="1946607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9512" y="2347118"/>
            <a:ext cx="5161563" cy="2304791"/>
          </a:xfrm>
        </p:spPr>
        <p:txBody>
          <a:bodyPr lIns="0" tIns="0" rIns="0" bIns="0" anchor="ctr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8000" cap="all" spc="-15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7BC5E0-03EB-A193-1303-34484219ED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2614" y="5010341"/>
            <a:ext cx="9501187" cy="1139447"/>
          </a:xfrm>
        </p:spPr>
        <p:txBody>
          <a:bodyPr/>
          <a:lstStyle>
            <a:lvl1pPr marL="0" indent="0" algn="ctr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46492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3438143"/>
            <a:ext cx="3439598" cy="263152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22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icture and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9581" y="2160494"/>
            <a:ext cx="6058564" cy="4697507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6150" y="596200"/>
            <a:ext cx="4758948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04041" y="900724"/>
            <a:ext cx="3439597" cy="2392155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5745" y="3292881"/>
            <a:ext cx="2967893" cy="223834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7E41109A-8BEA-FEB0-7ED8-F6C1DB5D4B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4041" y="5703628"/>
            <a:ext cx="3523517" cy="35542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46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jfif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15209-551F-6EC1-A54B-79D9B460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33" y="1954305"/>
            <a:ext cx="3693962" cy="1201850"/>
          </a:xfrm>
        </p:spPr>
        <p:txBody>
          <a:bodyPr>
            <a:normAutofit/>
          </a:bodyPr>
          <a:lstStyle/>
          <a:p>
            <a:r>
              <a:rPr lang="en-CA" sz="4400" dirty="0"/>
              <a:t>introduction</a:t>
            </a:r>
            <a:endParaRPr lang="en-US" sz="4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92B905E-EA68-5F8C-668B-1F8C80EAD2E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4757420" y="536963"/>
            <a:ext cx="4792979" cy="301349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41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6CFB7D-69A4-B016-AF88-4C75AE610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7407" y="2412482"/>
            <a:ext cx="923609" cy="9236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0B8FCE-69A9-9B12-FD70-FC7B08965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7407" y="1642688"/>
            <a:ext cx="986085" cy="5908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D4FD578-B4D1-98B2-304B-D6998F13B2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7138" y="692954"/>
            <a:ext cx="770822" cy="7708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87EC302-AA52-F9C9-5B61-5A889EBFC3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1637" y="1056235"/>
            <a:ext cx="838302" cy="83830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BE26EF4-7F95-0BF9-8877-A4F340D345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1002" y="1884196"/>
            <a:ext cx="838302" cy="838302"/>
          </a:xfrm>
          <a:prstGeom prst="rect">
            <a:avLst/>
          </a:prstGeom>
        </p:spPr>
      </p:pic>
      <p:pic>
        <p:nvPicPr>
          <p:cNvPr id="21" name="Picture 20" descr="Couple of arrows changing places - Free arrows icons">
            <a:extLst>
              <a:ext uri="{FF2B5EF4-FFF2-40B4-BE49-F238E27FC236}">
                <a16:creationId xmlns:a16="http://schemas.microsoft.com/office/drawing/2014/main" id="{E9343EB1-44D6-A979-07C6-67B28710B794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09512" y="1642688"/>
            <a:ext cx="838301" cy="64575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ACFACF1-4D14-FA49-E205-0638725D707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8420314" y="1311267"/>
            <a:ext cx="1057584" cy="105758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5518957-7298-9EBC-1872-95F75D0649F8}"/>
              </a:ext>
            </a:extLst>
          </p:cNvPr>
          <p:cNvSpPr>
            <a:spLocks/>
          </p:cNvSpPr>
          <p:nvPr/>
        </p:nvSpPr>
        <p:spPr>
          <a:xfrm>
            <a:off x="6364941" y="612201"/>
            <a:ext cx="66488" cy="2785035"/>
          </a:xfrm>
          <a:custGeom>
            <a:avLst/>
            <a:gdLst>
              <a:gd name="csX0" fmla="*/ 0 w 66488"/>
              <a:gd name="csY0" fmla="*/ 0 h 2785035"/>
              <a:gd name="csX1" fmla="*/ 66488 w 66488"/>
              <a:gd name="csY1" fmla="*/ 0 h 2785035"/>
              <a:gd name="csX2" fmla="*/ 66488 w 66488"/>
              <a:gd name="csY2" fmla="*/ 557007 h 2785035"/>
              <a:gd name="csX3" fmla="*/ 66488 w 66488"/>
              <a:gd name="csY3" fmla="*/ 1030463 h 2785035"/>
              <a:gd name="csX4" fmla="*/ 66488 w 66488"/>
              <a:gd name="csY4" fmla="*/ 1559620 h 2785035"/>
              <a:gd name="csX5" fmla="*/ 66488 w 66488"/>
              <a:gd name="csY5" fmla="*/ 2116627 h 2785035"/>
              <a:gd name="csX6" fmla="*/ 66488 w 66488"/>
              <a:gd name="csY6" fmla="*/ 2785035 h 2785035"/>
              <a:gd name="csX7" fmla="*/ 0 w 66488"/>
              <a:gd name="csY7" fmla="*/ 2785035 h 2785035"/>
              <a:gd name="csX8" fmla="*/ 0 w 66488"/>
              <a:gd name="csY8" fmla="*/ 2255878 h 2785035"/>
              <a:gd name="csX9" fmla="*/ 0 w 66488"/>
              <a:gd name="csY9" fmla="*/ 1643171 h 2785035"/>
              <a:gd name="csX10" fmla="*/ 0 w 66488"/>
              <a:gd name="csY10" fmla="*/ 1114014 h 2785035"/>
              <a:gd name="csX11" fmla="*/ 0 w 66488"/>
              <a:gd name="csY11" fmla="*/ 557007 h 2785035"/>
              <a:gd name="csX12" fmla="*/ 0 w 66488"/>
              <a:gd name="csY12" fmla="*/ 0 h 2785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66488" h="2785035" fill="none" extrusionOk="0">
                <a:moveTo>
                  <a:pt x="0" y="0"/>
                </a:moveTo>
                <a:cubicBezTo>
                  <a:pt x="19871" y="-4666"/>
                  <a:pt x="43057" y="3050"/>
                  <a:pt x="66488" y="0"/>
                </a:cubicBezTo>
                <a:cubicBezTo>
                  <a:pt x="68093" y="201654"/>
                  <a:pt x="25288" y="368810"/>
                  <a:pt x="66488" y="557007"/>
                </a:cubicBezTo>
                <a:cubicBezTo>
                  <a:pt x="107688" y="745204"/>
                  <a:pt x="59642" y="795968"/>
                  <a:pt x="66488" y="1030463"/>
                </a:cubicBezTo>
                <a:cubicBezTo>
                  <a:pt x="73334" y="1264958"/>
                  <a:pt x="36582" y="1390313"/>
                  <a:pt x="66488" y="1559620"/>
                </a:cubicBezTo>
                <a:cubicBezTo>
                  <a:pt x="96394" y="1728927"/>
                  <a:pt x="66207" y="1857124"/>
                  <a:pt x="66488" y="2116627"/>
                </a:cubicBezTo>
                <a:cubicBezTo>
                  <a:pt x="66769" y="2376130"/>
                  <a:pt x="28779" y="2613953"/>
                  <a:pt x="66488" y="2785035"/>
                </a:cubicBezTo>
                <a:cubicBezTo>
                  <a:pt x="39407" y="2792257"/>
                  <a:pt x="20307" y="2783620"/>
                  <a:pt x="0" y="2785035"/>
                </a:cubicBezTo>
                <a:cubicBezTo>
                  <a:pt x="-38542" y="2664377"/>
                  <a:pt x="24898" y="2454194"/>
                  <a:pt x="0" y="2255878"/>
                </a:cubicBezTo>
                <a:cubicBezTo>
                  <a:pt x="-24898" y="2057562"/>
                  <a:pt x="49745" y="1913116"/>
                  <a:pt x="0" y="1643171"/>
                </a:cubicBezTo>
                <a:cubicBezTo>
                  <a:pt x="-49745" y="1373226"/>
                  <a:pt x="37994" y="1307386"/>
                  <a:pt x="0" y="1114014"/>
                </a:cubicBezTo>
                <a:cubicBezTo>
                  <a:pt x="-37994" y="920642"/>
                  <a:pt x="16039" y="810947"/>
                  <a:pt x="0" y="557007"/>
                </a:cubicBezTo>
                <a:cubicBezTo>
                  <a:pt x="-16039" y="303067"/>
                  <a:pt x="51375" y="155132"/>
                  <a:pt x="0" y="0"/>
                </a:cubicBezTo>
                <a:close/>
              </a:path>
              <a:path w="66488" h="2785035" stroke="0" extrusionOk="0">
                <a:moveTo>
                  <a:pt x="0" y="0"/>
                </a:moveTo>
                <a:cubicBezTo>
                  <a:pt x="22086" y="-4394"/>
                  <a:pt x="52351" y="4431"/>
                  <a:pt x="66488" y="0"/>
                </a:cubicBezTo>
                <a:cubicBezTo>
                  <a:pt x="88042" y="242695"/>
                  <a:pt x="36987" y="429616"/>
                  <a:pt x="66488" y="584857"/>
                </a:cubicBezTo>
                <a:cubicBezTo>
                  <a:pt x="95989" y="740098"/>
                  <a:pt x="9892" y="976516"/>
                  <a:pt x="66488" y="1086164"/>
                </a:cubicBezTo>
                <a:cubicBezTo>
                  <a:pt x="123084" y="1195812"/>
                  <a:pt x="20757" y="1459774"/>
                  <a:pt x="66488" y="1643171"/>
                </a:cubicBezTo>
                <a:cubicBezTo>
                  <a:pt x="112219" y="1826568"/>
                  <a:pt x="66407" y="2097656"/>
                  <a:pt x="66488" y="2255878"/>
                </a:cubicBezTo>
                <a:cubicBezTo>
                  <a:pt x="66569" y="2414100"/>
                  <a:pt x="15819" y="2627326"/>
                  <a:pt x="66488" y="2785035"/>
                </a:cubicBezTo>
                <a:cubicBezTo>
                  <a:pt x="40594" y="2792388"/>
                  <a:pt x="32119" y="2777752"/>
                  <a:pt x="0" y="2785035"/>
                </a:cubicBezTo>
                <a:cubicBezTo>
                  <a:pt x="-2777" y="2561422"/>
                  <a:pt x="36979" y="2438965"/>
                  <a:pt x="0" y="2311579"/>
                </a:cubicBezTo>
                <a:cubicBezTo>
                  <a:pt x="-36979" y="2184193"/>
                  <a:pt x="7739" y="2013663"/>
                  <a:pt x="0" y="1810273"/>
                </a:cubicBezTo>
                <a:cubicBezTo>
                  <a:pt x="-7739" y="1606883"/>
                  <a:pt x="4023" y="1528989"/>
                  <a:pt x="0" y="1336817"/>
                </a:cubicBezTo>
                <a:cubicBezTo>
                  <a:pt x="-4023" y="1144645"/>
                  <a:pt x="36049" y="935800"/>
                  <a:pt x="0" y="751959"/>
                </a:cubicBezTo>
                <a:cubicBezTo>
                  <a:pt x="-36049" y="568118"/>
                  <a:pt x="46571" y="278558"/>
                  <a:pt x="0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28575">
            <a:solidFill>
              <a:schemeClr val="accent2">
                <a:lumMod val="10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25830704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CDC75E-6FBD-D2A1-4364-D626791AD511}"/>
              </a:ext>
            </a:extLst>
          </p:cNvPr>
          <p:cNvSpPr txBox="1"/>
          <p:nvPr/>
        </p:nvSpPr>
        <p:spPr>
          <a:xfrm>
            <a:off x="8612877" y="2250899"/>
            <a:ext cx="8284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altLang="zh-CN" sz="2000" cap="all" spc="-150" dirty="0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rPr>
              <a:t>RUST</a:t>
            </a:r>
            <a:endParaRPr lang="zh-CN" altLang="en-US" sz="3600" cap="all" spc="-150" dirty="0">
              <a:ln w="3175" cmpd="sng">
                <a:noFill/>
              </a:ln>
              <a:solidFill>
                <a:schemeClr val="bg1"/>
              </a:solidFill>
              <a:latin typeface="+mj-lt"/>
              <a:ea typeface="MS PMincho" panose="02020600040205080304" pitchFamily="18" charset="-128"/>
              <a:cs typeface="Mangal" panose="02040503050203030202" pitchFamily="18" charset="0"/>
            </a:endParaRPr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7D362792-3448-2746-EABE-F38942AD71AD}"/>
              </a:ext>
            </a:extLst>
          </p:cNvPr>
          <p:cNvSpPr/>
          <p:nvPr/>
        </p:nvSpPr>
        <p:spPr>
          <a:xfrm>
            <a:off x="5636088" y="4113864"/>
            <a:ext cx="4535825" cy="764451"/>
          </a:xfrm>
          <a:prstGeom prst="wedgeRoundRectCallout">
            <a:avLst>
              <a:gd name="adj1" fmla="val -47844"/>
              <a:gd name="adj2" fmla="val 72663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a:rPr>
              <a:t>“</a:t>
            </a:r>
            <a:r>
              <a:rPr lang="zh-CN" altLang="zh-CN" b="1" dirty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a:rPr>
              <a:t>My goal is to eliminate every line of C and C++ from Microsoft by 2030.</a:t>
            </a:r>
            <a:r>
              <a:rPr lang="zh-CN" altLang="en-US" b="1" dirty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a:rPr>
              <a:t>”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FDD7BD4-3F3E-09B5-F9F7-02C6B1384B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4895" y="3938350"/>
            <a:ext cx="1078724" cy="10787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5ACD2F3-B6AA-AC5F-9A16-62010B375DBF}"/>
              </a:ext>
            </a:extLst>
          </p:cNvPr>
          <p:cNvSpPr txBox="1"/>
          <p:nvPr/>
        </p:nvSpPr>
        <p:spPr>
          <a:xfrm>
            <a:off x="3580298" y="5193972"/>
            <a:ext cx="2137030" cy="425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5000"/>
              </a:lnSpc>
              <a:spcBef>
                <a:spcPct val="0"/>
              </a:spcBef>
            </a:pPr>
            <a:r>
              <a:rPr lang="zh-CN" altLang="zh-CN" sz="1400" dirty="0">
                <a:solidFill>
                  <a:schemeClr val="bg1"/>
                </a:solidFill>
              </a:rPr>
              <a:t>Distinguished Engineer at Microsoft</a:t>
            </a:r>
            <a:endParaRPr lang="zh-CN" altLang="en-US" sz="2800" cap="all" spc="-150" dirty="0">
              <a:ln w="3175" cmpd="sng">
                <a:noFill/>
              </a:ln>
              <a:solidFill>
                <a:schemeClr val="bg1"/>
              </a:solidFill>
              <a:latin typeface="+mj-lt"/>
              <a:ea typeface="MS PMincho" panose="02020600040205080304" pitchFamily="18" charset="-128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560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542BB80-52DA-35FC-BB78-E928422965F3}"/>
              </a:ext>
            </a:extLst>
          </p:cNvPr>
          <p:cNvSpPr txBox="1"/>
          <p:nvPr/>
        </p:nvSpPr>
        <p:spPr>
          <a:xfrm>
            <a:off x="1696248" y="3019528"/>
            <a:ext cx="6262950" cy="2054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1"/>
                </a:solidFill>
              </a:rPr>
              <a:t>Key Developments &amp; How It Works</a:t>
            </a:r>
          </a:p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CA" altLang="zh-CN" sz="2400" dirty="0">
                <a:solidFill>
                  <a:schemeClr val="bg1"/>
                </a:solidFill>
              </a:rPr>
              <a:t>Impact on Software Development</a:t>
            </a:r>
          </a:p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CA" altLang="zh-CN" sz="2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CA" altLang="zh-CN" sz="2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CA" altLang="zh-CN" sz="2400" dirty="0">
                <a:solidFill>
                  <a:schemeClr val="bg1"/>
                </a:solidFill>
              </a:rPr>
              <a:t>Challenges, Risks &amp; Future Outlook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202B2-2A0E-B9FE-8253-F15BB4BB98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5388" y="773218"/>
            <a:ext cx="5161563" cy="2304791"/>
          </a:xfrm>
        </p:spPr>
        <p:txBody>
          <a:bodyPr/>
          <a:lstStyle/>
          <a:p>
            <a:r>
              <a:rPr lang="en-CA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2663399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701E"/>
                </a:solidFill>
                <a:latin typeface="Aptos"/>
              </a:defRPr>
            </a:pPr>
            <a:r>
              <a:t>KEY DEVELOPMENTS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0">
                <a:solidFill>
                  <a:srgbClr val="F5F5F5"/>
                </a:solidFill>
                <a:latin typeface="Aptos"/>
              </a:defRPr>
            </a:pPr>
            <a:r>
              <a:t>WHY MEMORY SAFETY BECAME A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05840" cy="41148"/>
          </a:xfrm>
          <a:prstGeom prst="rect">
            <a:avLst/>
          </a:prstGeom>
          <a:solidFill>
            <a:srgbClr val="FF7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86032" y="246888"/>
            <a:ext cx="41148" cy="63093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701E"/>
                </a:solidFill>
                <a:latin typeface="Aptos"/>
              </a:defRPr>
            </a:pPr>
            <a:r>
              <a:t>2006–2015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1518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5F5F5"/>
                </a:solidFill>
                <a:latin typeface="Aptos"/>
              </a:defRPr>
            </a:pPr>
            <a:r>
              <a:t>Rust emerges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BFBFBF"/>
                </a:solidFill>
                <a:latin typeface="Aptos"/>
              </a:defRPr>
            </a:pPr>
            <a:r>
              <a:t>Mozilla research begins; Rust 1.0 is released in 2015.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0116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701E"/>
                </a:solidFill>
                <a:latin typeface="Aptos"/>
              </a:defRPr>
            </a:pPr>
            <a:r>
              <a:t>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61518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5F5F5"/>
                </a:solidFill>
                <a:latin typeface="Aptos"/>
              </a:defRPr>
            </a:pPr>
            <a:r>
              <a:t>Linux kernel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3832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BFBFBF"/>
                </a:solidFill>
                <a:latin typeface="Aptos"/>
              </a:defRPr>
            </a:pPr>
            <a:r>
              <a:t>Rust support enters the Linux kernel for selected components.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0116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701E"/>
                </a:solidFill>
                <a:latin typeface="Aptos"/>
              </a:defRPr>
            </a:pPr>
            <a:r>
              <a:t>2020s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61518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5F5F5"/>
                </a:solidFill>
                <a:latin typeface="Aptos"/>
              </a:defRPr>
            </a:pPr>
            <a:r>
              <a:t>Industry momentum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3832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BFBFBF"/>
                </a:solidFill>
                <a:latin typeface="Aptos"/>
              </a:defRPr>
            </a:pPr>
            <a:r>
              <a:t>Security teams increasingly recommend memory-safe languages.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701E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0">
                <a:solidFill>
                  <a:srgbClr val="F5F5F5"/>
                </a:solidFill>
                <a:latin typeface="Aptos"/>
              </a:defRPr>
            </a:pPr>
            <a:r>
              <a:t>RUST'S THREE CORE SAFETY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05840" cy="41148"/>
          </a:xfrm>
          <a:prstGeom prst="rect">
            <a:avLst/>
          </a:prstGeom>
          <a:solidFill>
            <a:srgbClr val="FF7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86032" y="246888"/>
            <a:ext cx="41148" cy="63093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701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828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5F5"/>
                </a:solidFill>
                <a:latin typeface="Aptos"/>
              </a:defRPr>
            </a:pPr>
            <a:r>
              <a:t>Ownership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BFBFBF"/>
                </a:solidFill>
                <a:latin typeface="Aptos"/>
              </a:defRPr>
            </a:pPr>
            <a:r>
              <a:t>Every value has an owner. When it goes out of scope, its resources are cleaned 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7355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701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7355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5F5"/>
                </a:solidFill>
                <a:latin typeface="Aptos"/>
              </a:defRPr>
            </a:pPr>
            <a:r>
              <a:t>Borrowing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73552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BFBFBF"/>
                </a:solidFill>
                <a:latin typeface="Aptos"/>
              </a:defRPr>
            </a:pPr>
            <a:r>
              <a:t>Code can temporarily reference a value without taking ownership.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18304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701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71830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5F5"/>
                </a:solidFill>
                <a:latin typeface="Aptos"/>
              </a:defRPr>
            </a:pPr>
            <a:r>
              <a:t>Borrow checker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718304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BFBFBF"/>
                </a:solidFill>
                <a:latin typeface="Aptos"/>
              </a:defRPr>
            </a:pPr>
            <a:r>
              <a:t>The compiler checks references and their lifetimes before a program runs.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701E"/>
                </a:solidFill>
                <a:latin typeface="Aptos"/>
              </a:defRPr>
            </a:pPr>
            <a:r>
              <a:t>MEMORY SAFETY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0">
                <a:solidFill>
                  <a:srgbClr val="F5F5F5"/>
                </a:solidFill>
                <a:latin typeface="Aptos"/>
              </a:defRPr>
            </a:pPr>
            <a:r>
              <a:t>C/C++ AND RUST: A SIMPLE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05840" cy="41148"/>
          </a:xfrm>
          <a:prstGeom prst="rect">
            <a:avLst/>
          </a:prstGeom>
          <a:solidFill>
            <a:srgbClr val="FF7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86032" y="246888"/>
            <a:ext cx="41148" cy="63093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701E"/>
                </a:solidFill>
                <a:latin typeface="Aptos"/>
              </a:defRPr>
            </a:pPr>
            <a:r>
              <a:t>C: use-after-free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701E"/>
                </a:solidFill>
                <a:latin typeface="Aptos"/>
              </a:defRPr>
            </a:pPr>
            <a:r>
              <a:t>Rust: rejected at compile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5F5F5"/>
                </a:solidFill>
                <a:latin typeface="Consolas"/>
              </a:defRPr>
            </a:pPr>
            <a:r>
              <a:t>int *p = malloc(sizeof(int));</a:t>
            </a:r>
          </a:p>
          <a:p>
            <a:pPr>
              <a:defRPr sz="2000" b="0">
                <a:solidFill>
                  <a:srgbClr val="F5F5F5"/>
                </a:solidFill>
                <a:latin typeface="Consolas"/>
              </a:defRPr>
            </a:pPr>
            <a:r>
              <a:t>free(p);</a:t>
            </a:r>
          </a:p>
          <a:p>
            <a:pPr>
              <a:defRPr sz="2000" b="0">
                <a:solidFill>
                  <a:srgbClr val="F5F5F5"/>
                </a:solidFill>
                <a:latin typeface="Consolas"/>
              </a:defRPr>
            </a:pPr>
            <a:r>
              <a:t>*p = 42; // invalid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5F5F5"/>
                </a:solidFill>
                <a:latin typeface="Consolas"/>
              </a:defRPr>
            </a:pPr>
            <a:r>
              <a:t>let name = String::from("Hi");</a:t>
            </a:r>
          </a:p>
          <a:p>
            <a:pPr>
              <a:defRPr sz="2000" b="0">
                <a:solidFill>
                  <a:srgbClr val="F5F5F5"/>
                </a:solidFill>
                <a:latin typeface="Consolas"/>
              </a:defRPr>
            </a:pPr>
            <a:r>
              <a:t>let moved = name;</a:t>
            </a:r>
          </a:p>
          <a:p>
            <a:pPr>
              <a:defRPr sz="2000" b="0">
                <a:solidFill>
                  <a:srgbClr val="F5F5F5"/>
                </a:solidFill>
                <a:latin typeface="Consolas"/>
              </a:defRPr>
            </a:pPr>
            <a:r>
              <a:t>println!("{name}"); //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663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BFBFBF"/>
                </a:solidFill>
                <a:latin typeface="Aptos"/>
              </a:defRPr>
            </a:pPr>
            <a:r>
              <a:rPr dirty="0"/>
              <a:t>C can leave dangling pointers; Rust catches many ownership mistakes before execution.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701E"/>
                </a:solidFill>
                <a:latin typeface="Aptos"/>
              </a:defRPr>
            </a:pPr>
            <a:r>
              <a:t>BORROWING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0">
                <a:solidFill>
                  <a:srgbClr val="F5F5F5"/>
                </a:solidFill>
                <a:latin typeface="Aptos"/>
              </a:defRPr>
            </a:pPr>
            <a:r>
              <a:t>WHAT THE COMPILER ACTUALLY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05840" cy="41148"/>
          </a:xfrm>
          <a:prstGeom prst="rect">
            <a:avLst/>
          </a:prstGeom>
          <a:solidFill>
            <a:srgbClr val="FF7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86032" y="246888"/>
            <a:ext cx="41148" cy="63093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766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5F5F5"/>
                </a:solidFill>
                <a:latin typeface="Consolas"/>
              </a:defRPr>
            </a:pPr>
            <a:r>
              <a:t>let mut data = String::from("Hi");</a:t>
            </a:r>
          </a:p>
          <a:p>
            <a:pPr>
              <a:defRPr sz="2000" b="0">
                <a:solidFill>
                  <a:srgbClr val="F5F5F5"/>
                </a:solidFill>
                <a:latin typeface="Consolas"/>
              </a:defRPr>
            </a:pPr>
            <a:r>
              <a:t>let read = &amp;data;</a:t>
            </a:r>
          </a:p>
          <a:p>
            <a:pPr>
              <a:defRPr sz="2000" b="0">
                <a:solidFill>
                  <a:srgbClr val="F5F5F5"/>
                </a:solidFill>
                <a:latin typeface="Consolas"/>
              </a:defRPr>
            </a:pPr>
            <a:r>
              <a:t>println!("{read}");</a:t>
            </a:r>
          </a:p>
          <a:p>
            <a:pPr>
              <a:defRPr sz="2000" b="0">
                <a:solidFill>
                  <a:srgbClr val="F5F5F5"/>
                </a:solidFill>
                <a:latin typeface="Consolas"/>
              </a:defRPr>
            </a:pPr>
            <a:r>
              <a:t>let write = &amp;mut data;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92024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701E"/>
                </a:solidFill>
                <a:latin typeface="Aptos"/>
              </a:defRPr>
            </a:pPr>
            <a:r>
              <a:t>The 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651760"/>
            <a:ext cx="3566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BFBFBF"/>
                </a:solidFill>
                <a:latin typeface="Aptos"/>
              </a:defRPr>
            </a:pPr>
            <a:r>
              <a:t>Many shared readers OR one exclusive writer at a time.</a:t>
            </a:r>
          </a:p>
          <a:p>
            <a:pPr>
              <a:defRPr sz="1900" b="0">
                <a:solidFill>
                  <a:srgbClr val="BFBFBF"/>
                </a:solidFill>
                <a:latin typeface="Aptos"/>
              </a:defRPr>
            </a:pPr>
            <a:endParaRPr/>
          </a:p>
          <a:p>
            <a:pPr>
              <a:defRPr sz="1900" b="0">
                <a:solidFill>
                  <a:srgbClr val="BFBFBF"/>
                </a:solidFill>
                <a:latin typeface="Aptos"/>
              </a:defRPr>
            </a:pPr>
            <a:r>
              <a:t>Rust checks borrowing rules during compilation.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701E"/>
                </a:solidFill>
                <a:latin typeface="Aptos"/>
              </a:defRPr>
            </a:pPr>
            <a:r>
              <a:t>INDUSTRY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0">
                <a:solidFill>
                  <a:srgbClr val="F5F5F5"/>
                </a:solidFill>
                <a:latin typeface="Aptos"/>
              </a:defRPr>
            </a:pPr>
            <a:r>
              <a:t>WHY THE SHIFT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05840" cy="41148"/>
          </a:xfrm>
          <a:prstGeom prst="rect">
            <a:avLst/>
          </a:prstGeom>
          <a:solidFill>
            <a:srgbClr val="FF7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86032" y="246888"/>
            <a:ext cx="41148" cy="630936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701E"/>
                </a:solidFill>
                <a:latin typeface="Aptos"/>
              </a:defRPr>
            </a:pPr>
            <a:r>
              <a:t>Prevent bugs earlier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BFBFBF"/>
                </a:solidFill>
                <a:latin typeface="Aptos"/>
              </a:defRPr>
            </a:pPr>
            <a:r>
              <a:t>Many use-after-free and data-race errors are caught during compilation.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011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701E"/>
                </a:solidFill>
                <a:latin typeface="Aptos"/>
              </a:defRPr>
            </a:pPr>
            <a:r>
              <a:t>Keep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301752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BFBFBF"/>
                </a:solidFill>
                <a:latin typeface="Aptos"/>
              </a:defRPr>
            </a:pPr>
            <a:r>
              <a:t>Rust compiles to native code without requiring a garbage collector.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701E"/>
                </a:solidFill>
                <a:latin typeface="Aptos"/>
              </a:defRPr>
            </a:pPr>
            <a:r>
              <a:t>Adopt gradually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01752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BFBFBF"/>
                </a:solidFill>
                <a:latin typeface="Aptos"/>
              </a:defRPr>
            </a:pPr>
            <a:r>
              <a:t>Teams can introduce Rust in new modules while maintaining C/C++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542BB80-52DA-35FC-BB78-E928422965F3}"/>
              </a:ext>
            </a:extLst>
          </p:cNvPr>
          <p:cNvSpPr txBox="1"/>
          <p:nvPr/>
        </p:nvSpPr>
        <p:spPr>
          <a:xfrm>
            <a:off x="1273373" y="2091470"/>
            <a:ext cx="62629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Rust improves software safety, security, and reliability compared to C and C++.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It prevents many common memory errors, reducing debugging and security risks.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Mozilla uses Rust in parts of Firefox, while C++ remains popular in game development.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Overall, both Rust and C++ remain important depending on the project's needs.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43BE6424-338D-D866-F108-FD6B4956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064" y="1017230"/>
            <a:ext cx="7243749" cy="1219957"/>
          </a:xfrm>
        </p:spPr>
        <p:txBody>
          <a:bodyPr>
            <a:normAutofit/>
          </a:bodyPr>
          <a:lstStyle/>
          <a:p>
            <a:pPr algn="ctr"/>
            <a:r>
              <a:rPr lang="en-US" altLang="zh-CN" sz="5400" dirty="0"/>
              <a:t> IMPACT ON SOFTWARE 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373480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F5E16D3-4028-AA0C-A7D9-8AB40A055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084" y="890015"/>
            <a:ext cx="4201067" cy="1938529"/>
          </a:xfrm>
        </p:spPr>
        <p:txBody>
          <a:bodyPr/>
          <a:lstStyle/>
          <a:p>
            <a:r>
              <a:rPr lang="en-US" dirty="0"/>
              <a:t>Challenges of Adopting Rust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79044-2F18-3B35-893C-0B36C71E5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>
                <a:ea typeface="+mn-lt"/>
                <a:cs typeface="+mn-lt"/>
              </a:rPr>
              <a:t>Sources: Rust Project (2025), Rust Foundation (2025)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EA95D66-07D4-B718-7442-747FF09438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28305" y="2564085"/>
            <a:ext cx="4448127" cy="3505581"/>
          </a:xfrm>
        </p:spPr>
        <p:txBody>
          <a:bodyPr/>
          <a:lstStyle/>
          <a:p>
            <a:pPr>
              <a:buSzPct val="114999"/>
            </a:pPr>
            <a:r>
              <a:rPr lang="en-US" sz="1600" b="1">
                <a:ea typeface="+mn-lt"/>
                <a:cs typeface="+mn-lt"/>
              </a:rPr>
              <a:t>Steep learning curve:</a:t>
            </a:r>
            <a:r>
              <a:rPr lang="en-US" sz="1600">
                <a:ea typeface="+mn-lt"/>
                <a:cs typeface="+mn-lt"/>
              </a:rPr>
              <a:t> Rust's ownership and borrowing rules require new skills.</a:t>
            </a:r>
            <a:endParaRPr lang="en-US" sz="1600"/>
          </a:p>
          <a:p>
            <a:pPr>
              <a:buSzPct val="114999"/>
            </a:pPr>
            <a:r>
              <a:rPr lang="en-US" sz="1600" b="1">
                <a:ea typeface="+mn-lt"/>
                <a:cs typeface="+mn-lt"/>
              </a:rPr>
              <a:t>Legacy code compatibility:</a:t>
            </a:r>
            <a:r>
              <a:rPr lang="en-US" sz="1600">
                <a:ea typeface="+mn-lt"/>
                <a:cs typeface="+mn-lt"/>
              </a:rPr>
              <a:t> Integrating Rust with existing C/C++ systems is complex.</a:t>
            </a:r>
            <a:endParaRPr lang="en-US" sz="1600"/>
          </a:p>
          <a:p>
            <a:pPr>
              <a:buSzPct val="114999"/>
            </a:pPr>
            <a:r>
              <a:rPr lang="en-US" sz="1600" b="1">
                <a:ea typeface="+mn-lt"/>
                <a:cs typeface="+mn-lt"/>
              </a:rPr>
              <a:t>Migration costs:</a:t>
            </a:r>
            <a:r>
              <a:rPr lang="en-US" sz="1600">
                <a:ea typeface="+mn-lt"/>
                <a:cs typeface="+mn-lt"/>
              </a:rPr>
              <a:t> Rewriting large codebases requires time, resources, and extensive testing.</a:t>
            </a:r>
            <a:endParaRPr lang="en-US" sz="1600"/>
          </a:p>
          <a:p>
            <a:pPr>
              <a:buSzPct val="114999"/>
            </a:pPr>
            <a:r>
              <a:rPr lang="en-US" sz="1600" b="1">
                <a:ea typeface="+mn-lt"/>
                <a:cs typeface="+mn-lt"/>
              </a:rPr>
              <a:t>Not completely risk-free: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>
                <a:latin typeface="Mangal"/>
                <a:cs typeface="Mangal"/>
              </a:rPr>
              <a:t>unsafe</a:t>
            </a:r>
            <a:r>
              <a:rPr lang="en-US" sz="1600">
                <a:ea typeface="+mn-lt"/>
                <a:cs typeface="+mn-lt"/>
              </a:rPr>
              <a:t> Rust and integration boundaries still require careful review.</a:t>
            </a:r>
            <a:endParaRPr lang="en-US" sz="160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5F894F10-B73F-DC9C-DDA5-71E8A694E3B5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t="9667" b="9667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452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1FC83-A0EF-F387-9E69-BC321F6B8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88E7A23-8B3C-D600-7E9E-01A748D2D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150" y="596200"/>
            <a:ext cx="5509742" cy="2980676"/>
          </a:xfrm>
        </p:spPr>
        <p:txBody>
          <a:bodyPr/>
          <a:lstStyle/>
          <a:p>
            <a:r>
              <a:rPr lang="en-US" dirty="0"/>
              <a:t>Future Outlook: A Safer Industry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F91B10-273B-3F1A-9AE7-F69D36907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>
                <a:ea typeface="+mn-lt"/>
                <a:cs typeface="+mn-lt"/>
              </a:rPr>
              <a:t>Sources: Google Security (2025),</a:t>
            </a:r>
            <a:endParaRPr lang="en-US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A225F06-A03D-E0E4-3286-E9BC8E9BF5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8952" y="3057557"/>
            <a:ext cx="5354744" cy="2630549"/>
          </a:xfrm>
        </p:spPr>
        <p:txBody>
          <a:bodyPr vert="horz" lIns="0" tIns="0" rIns="0" bIns="0" rtlCol="0" anchor="t">
            <a:noAutofit/>
          </a:bodyPr>
          <a:lstStyle/>
          <a:p>
            <a:pPr>
              <a:buSzPct val="114999"/>
            </a:pPr>
            <a:r>
              <a:rPr lang="en-US" sz="1600" b="1">
                <a:ea typeface="+mn-lt"/>
                <a:cs typeface="+mn-lt"/>
              </a:rPr>
              <a:t>Growing industry adoption:</a:t>
            </a:r>
            <a:r>
              <a:rPr lang="en-US" sz="1600">
                <a:ea typeface="+mn-lt"/>
                <a:cs typeface="+mn-lt"/>
              </a:rPr>
              <a:t> Android and Linux are integrating Rust into systems development.</a:t>
            </a:r>
            <a:endParaRPr lang="en-US"/>
          </a:p>
          <a:p>
            <a:pPr>
              <a:buSzPct val="114999"/>
            </a:pPr>
            <a:r>
              <a:rPr lang="en-US" sz="1600" b="1">
                <a:ea typeface="+mn-lt"/>
                <a:cs typeface="+mn-lt"/>
              </a:rPr>
              <a:t>Security-driven development:</a:t>
            </a:r>
            <a:r>
              <a:rPr lang="en-US" sz="1600">
                <a:ea typeface="+mn-lt"/>
                <a:cs typeface="+mn-lt"/>
              </a:rPr>
              <a:t> Memory safety is becoming a major engineering priority.</a:t>
            </a:r>
          </a:p>
          <a:p>
            <a:pPr>
              <a:buSzPct val="114999"/>
            </a:pPr>
            <a:r>
              <a:rPr lang="en-US" sz="1600" b="1">
                <a:ea typeface="+mn-lt"/>
                <a:cs typeface="+mn-lt"/>
              </a:rPr>
              <a:t>Gradual migration:</a:t>
            </a:r>
            <a:r>
              <a:rPr lang="en-US" sz="1600">
                <a:ea typeface="+mn-lt"/>
                <a:cs typeface="+mn-lt"/>
              </a:rPr>
              <a:t> Rust and C/C++ will coexist in many existing systems.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E2AA62-0546-A9C9-91A9-302A5C6E0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214D40-48F8-6CF5-C003-E16770F61A9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514394" y="4314098"/>
            <a:ext cx="3456282" cy="1296716"/>
          </a:xfrm>
        </p:spPr>
        <p:txBody>
          <a:bodyPr/>
          <a:lstStyle/>
          <a:p>
            <a:pPr algn="just"/>
            <a:r>
              <a:rPr lang="en-US" sz="1600">
                <a:ea typeface="+mj-lt"/>
                <a:cs typeface="+mj-lt"/>
              </a:rPr>
              <a:t>Google's 2025 Android security analysis reported that Rust had an estimated memory-safety vulnerability density more than 1,000 times lower than its historical C/C++ code.</a:t>
            </a:r>
            <a:endParaRPr lang="en-US" sz="1600">
              <a:ea typeface="MS PMincho"/>
            </a:endParaRPr>
          </a:p>
          <a:p>
            <a:pPr algn="just"/>
            <a:endParaRPr lang="en-US" sz="1600">
              <a:ea typeface="MS PMinch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5DD8C4-997E-90EB-F9DF-B2A3315319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26" t="17857" r="17851" b="19989"/>
          <a:stretch>
            <a:fillRect/>
          </a:stretch>
        </p:blipFill>
        <p:spPr>
          <a:xfrm>
            <a:off x="7109573" y="1073598"/>
            <a:ext cx="4189347" cy="264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474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941832"/>
            <a:ext cx="960120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4200" b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103120"/>
            <a:ext cx="9875520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300" b="1" dirty="0">
                <a:solidFill>
                  <a:srgbClr val="EF682B"/>
                </a:solidFill>
              </a:rPr>
              <a:t>EVOLUTION, NOT REPLACEMENT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542032"/>
            <a:ext cx="950976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FFFFFF"/>
                </a:solidFill>
              </a:rPr>
              <a:t>Rust complements C/C++ rather than replacing them overnight.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337560"/>
            <a:ext cx="9875520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EF682B"/>
                </a:solidFill>
              </a:rPr>
              <a:t>MEMORY SAFETY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776472"/>
            <a:ext cx="950976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FFFFFF"/>
                </a:solidFill>
              </a:rPr>
              <a:t>Rust prevents many memory vulnerabilities at compile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572000"/>
            <a:ext cx="9875520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EF682B"/>
                </a:solidFill>
              </a:rPr>
              <a:t>A SAFER DIGITAL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010912"/>
            <a:ext cx="950976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FFFFFF"/>
                </a:solidFill>
              </a:rPr>
              <a:t>Building more secure and reliable software.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6007608"/>
            <a:ext cx="1920240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685800"/>
            <a:ext cx="9875520" cy="6309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4100" b="0">
                <a:solidFill>
                  <a:srgbClr val="FFFFFF"/>
                </a:solidFill>
                <a:latin typeface="+mj-lt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664208"/>
            <a:ext cx="99669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 dirty="0">
                <a:solidFill>
                  <a:srgbClr val="EF682B"/>
                </a:solidFill>
              </a:rPr>
              <a:t>01  The Linux Kernel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993392"/>
            <a:ext cx="99669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FCFCF"/>
                </a:solidFill>
              </a:rPr>
              <a:t>Rust.  https://docs.kernel.org/rust/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23744"/>
            <a:ext cx="99669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F682B"/>
                </a:solidFill>
              </a:rPr>
              <a:t>02  Cybersecurity and Infrastructure Security Agency (2023)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52927"/>
            <a:ext cx="99669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FCFCF"/>
                </a:solidFill>
              </a:rPr>
              <a:t>The Case for Memory Safe Roadmaps.  https://www.cisa.gov/resources-tools/resources/case-memory-safe-roadmaps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9669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F682B"/>
                </a:solidFill>
              </a:rPr>
              <a:t>03  The Rust Project (2025)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12464"/>
            <a:ext cx="9966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FCFCF"/>
                </a:solidFill>
              </a:rPr>
              <a:t>Evaluate Approaches for Seamless Interop Between C++ and Rust.  https://goals.rust-lang.org/2025h1/seamless-rust-cpp.html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242816"/>
            <a:ext cx="99669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F682B"/>
                </a:solidFill>
              </a:rPr>
              <a:t>04  Google Security Blog (2025)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572000"/>
            <a:ext cx="99669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FCFCF"/>
                </a:solidFill>
              </a:rPr>
              <a:t>Rust in Android: Move Fast and Fix Things.  https://blog.google/security/rust-in-android-move-fast-fix-things/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102352"/>
            <a:ext cx="99669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F682B"/>
                </a:solidFill>
              </a:rPr>
              <a:t>05  Windows Latest (2025)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431536"/>
            <a:ext cx="9966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 dirty="0">
                <a:solidFill>
                  <a:srgbClr val="CFCFCF"/>
                </a:solidFill>
              </a:rPr>
              <a:t>Microsoft and Rust adoption / code migration research.  https://www.windowslatest.com/2025/12/24/microsoft-confirms-eliminate-c-and-c-plan-translate-code-to-rust-using-ai-as-windows-11-adopts-rust-and-webview2/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795</Words>
  <Application>Microsoft Office PowerPoint</Application>
  <PresentationFormat>Widescreen</PresentationFormat>
  <Paragraphs>104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MS PMincho</vt:lpstr>
      <vt:lpstr>Aptos</vt:lpstr>
      <vt:lpstr>Arial</vt:lpstr>
      <vt:lpstr>Calibri</vt:lpstr>
      <vt:lpstr>Courier New</vt:lpstr>
      <vt:lpstr>Mangal</vt:lpstr>
      <vt:lpstr>Wingdings</vt:lpstr>
      <vt:lpstr>Office Theme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IMPACT ON SOFTWARE </vt:lpstr>
      <vt:lpstr>Challenges of Adopting Rust </vt:lpstr>
      <vt:lpstr>Future Outlook: A Safer Industry  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Umer</cp:lastModifiedBy>
  <cp:revision>2</cp:revision>
  <dcterms:created xsi:type="dcterms:W3CDTF">2013-01-27T09:14:16Z</dcterms:created>
  <dcterms:modified xsi:type="dcterms:W3CDTF">2026-10-22T01:27:42Z</dcterms:modified>
  <cp:category/>
</cp:coreProperties>
</file>